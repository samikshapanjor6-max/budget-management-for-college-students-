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E2A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Aptos"/>
              </a:defRPr>
            </a:pPr>
            <a:r>
              <a:t>STUDENT BUDGETING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267712"/>
            <a:ext cx="10149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E4EFF2"/>
                </a:solidFill>
                <a:latin typeface="Aptos"/>
              </a:defRPr>
            </a:pPr>
            <a:r>
              <a:t>A practical guide to managing monthly money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388620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DC91"/>
                </a:solidFill>
                <a:latin typeface="Aptos"/>
              </a:defRPr>
            </a:pPr>
            <a:r>
              <a:t>Spend with a plan. Save for what matters.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457200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FFFFFF"/>
                </a:solidFill>
                <a:latin typeface="Aptos"/>
              </a:defRPr>
            </a:pPr>
            <a:r>
              <a:t>Simple tips for everyday college life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0807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77E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4E79"/>
                </a:solidFill>
                <a:latin typeface="Aptos"/>
              </a:defRPr>
            </a:pPr>
            <a:r>
              <a:t>Why make a budget?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07008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377E7D"/>
                </a:solidFill>
                <a:latin typeface="Aptos"/>
              </a:defRPr>
            </a:pPr>
            <a:r>
              <a:t>A budget is a plan—not a restriction.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10698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E6E6E"/>
                </a:solidFill>
                <a:latin typeface="Aptos"/>
              </a:defRPr>
            </a:pPr>
            <a:r>
              <a:t>STUDENT BUDGETING  • 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77E7D"/>
                </a:solidFill>
                <a:latin typeface="Aptos"/>
              </a:defRPr>
            </a:pPr>
            <a:r>
              <a:t>It helps you: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423160"/>
            <a:ext cx="9784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0">
                <a:solidFill>
                  <a:srgbClr val="2D2D2D"/>
                </a:solidFill>
                <a:latin typeface="Aptos"/>
              </a:defRPr>
            </a:pPr>
            <a:r>
              <a:t>•  Know where your money goes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081528"/>
            <a:ext cx="9784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0">
                <a:solidFill>
                  <a:srgbClr val="2D2D2D"/>
                </a:solidFill>
                <a:latin typeface="Aptos"/>
              </a:defRPr>
            </a:pPr>
            <a:r>
              <a:t>•  Avoid running out before month-end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739896"/>
            <a:ext cx="9784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0">
                <a:solidFill>
                  <a:srgbClr val="2D2D2D"/>
                </a:solidFill>
                <a:latin typeface="Aptos"/>
              </a:defRPr>
            </a:pPr>
            <a:r>
              <a:t>•  Plan for college needs and outings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398264"/>
            <a:ext cx="9784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0">
                <a:solidFill>
                  <a:srgbClr val="2D2D2D"/>
                </a:solidFill>
                <a:latin typeface="Aptos"/>
              </a:defRPr>
            </a:pPr>
            <a:r>
              <a:t>•  Save for emergencies or future goals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77E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4E79"/>
                </a:solidFill>
                <a:latin typeface="Aptos"/>
              </a:defRPr>
            </a:pPr>
            <a:r>
              <a:t>Step 1: Know your monthly amount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07008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377E7D"/>
                </a:solidFill>
                <a:latin typeface="Aptos"/>
              </a:defRPr>
            </a:pPr>
            <a:r>
              <a:t>Start with money you can actually count 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10698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E6E6E"/>
                </a:solidFill>
                <a:latin typeface="Aptos"/>
              </a:defRPr>
            </a:pPr>
            <a:r>
              <a:t>STUDENT BUDGETING  • 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377E7D"/>
                </a:solidFill>
                <a:latin typeface="Aptos"/>
              </a:defRPr>
            </a:pPr>
            <a:r>
              <a:t>Money coming 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487168"/>
            <a:ext cx="5120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D2D2D"/>
                </a:solidFill>
                <a:latin typeface="Aptos"/>
              </a:defRPr>
            </a:pPr>
            <a:r>
              <a:t>•  Pocket money or family support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108960"/>
            <a:ext cx="5120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D2D2D"/>
                </a:solidFill>
                <a:latin typeface="Aptos"/>
              </a:defRPr>
            </a:pPr>
            <a:r>
              <a:t>•  Part-time work, if any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730752"/>
            <a:ext cx="5120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D2D2D"/>
                </a:solidFill>
                <a:latin typeface="Aptos"/>
              </a:defRPr>
            </a:pPr>
            <a:r>
              <a:t>•  Scholarship or other regular income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874519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1F4E79"/>
                </a:solidFill>
                <a:latin typeface="Aptos"/>
              </a:defRPr>
            </a:pPr>
            <a:r>
              <a:t>Quick tip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514600"/>
            <a:ext cx="43891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2D2D2D"/>
                </a:solidFill>
                <a:latin typeface="Aptos"/>
              </a:defRPr>
            </a:pPr>
            <a:r>
              <a:t>Use a realistic amount. Don't plan your spending around money you might receive later.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77E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4E79"/>
                </a:solidFill>
                <a:latin typeface="Aptos"/>
              </a:defRPr>
            </a:pPr>
            <a:r>
              <a:t>Step 2: Sort expenses into 3 groups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07008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377E7D"/>
                </a:solidFill>
                <a:latin typeface="Aptos"/>
              </a:defRPr>
            </a:pPr>
            <a:r>
              <a:t>This makes it easier to decide what comes first.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10698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E6E6E"/>
                </a:solidFill>
                <a:latin typeface="Aptos"/>
              </a:defRPr>
            </a:pPr>
            <a:r>
              <a:t>STUDENT BUDGETING  •  04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057400"/>
            <a:ext cx="33832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95728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4E79"/>
                </a:solidFill>
                <a:latin typeface="Aptos"/>
              </a:defRPr>
            </a:pPr>
            <a:r>
              <a:t>NEEDS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06324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D2D2D"/>
                </a:solidFill>
                <a:latin typeface="Aptos"/>
              </a:defRPr>
            </a:pPr>
            <a:r>
              <a:t>Hostel or rent</a:t>
            </a:r>
            <a:br/>
            <a:r>
              <a:t>Food and travel</a:t>
            </a:r>
            <a:br/>
            <a:r>
              <a:t>Phone and study supplies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617720" y="2057400"/>
            <a:ext cx="33832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377E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0" y="2395728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77E7D"/>
                </a:solidFill>
                <a:latin typeface="Aptos"/>
              </a:defRPr>
            </a:pPr>
            <a:r>
              <a:t>WANTS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306324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D2D2D"/>
                </a:solidFill>
                <a:latin typeface="Aptos"/>
              </a:defRPr>
            </a:pPr>
            <a:r>
              <a:t>Cafés and outings</a:t>
            </a:r>
            <a:br/>
            <a:r>
              <a:t>Shopping</a:t>
            </a:r>
            <a:br/>
            <a:r>
              <a:t>Subscriptions and movies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58200" y="2057400"/>
            <a:ext cx="33832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B17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0" y="2395728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B17B2B"/>
                </a:solidFill>
                <a:latin typeface="Aptos"/>
              </a:defRPr>
            </a:pPr>
            <a:r>
              <a:t>SAVINGS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306324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D2D2D"/>
                </a:solidFill>
                <a:latin typeface="Aptos"/>
              </a:defRPr>
            </a:pPr>
            <a:r>
              <a:t>Emergency money</a:t>
            </a:r>
            <a:br/>
            <a:r>
              <a:t>Books or travel goal</a:t>
            </a:r>
            <a:br/>
            <a:r>
              <a:t>Future plans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77E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4E79"/>
                </a:solidFill>
                <a:latin typeface="Aptos"/>
              </a:defRPr>
            </a:pPr>
            <a:r>
              <a:t>Step 3: Give every rupee a job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07008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377E7D"/>
                </a:solidFill>
                <a:latin typeface="Aptos"/>
              </a:defRPr>
            </a:pPr>
            <a:r>
              <a:t>A sample plan can help you get started.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10698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E6E6E"/>
                </a:solidFill>
                <a:latin typeface="Aptos"/>
              </a:defRPr>
            </a:pPr>
            <a:r>
              <a:t>STUDENT BUDGETING  •  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377E7D"/>
                </a:solidFill>
                <a:latin typeface="Aptos"/>
              </a:defRPr>
            </a:pPr>
            <a:r>
              <a:t>Try this simple order: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487168"/>
            <a:ext cx="9601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2D2D2D"/>
                </a:solidFill>
                <a:latin typeface="Aptos"/>
              </a:defRPr>
            </a:pPr>
            <a:r>
              <a:t>1. Pay or set aside essential costs first.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099816"/>
            <a:ext cx="9601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2D2D2D"/>
                </a:solidFill>
                <a:latin typeface="Aptos"/>
              </a:defRPr>
            </a:pPr>
            <a:r>
              <a:t>2. Save a small amount if you can.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712464"/>
            <a:ext cx="9601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2D2D2D"/>
                </a:solidFill>
                <a:latin typeface="Aptos"/>
              </a:defRPr>
            </a:pPr>
            <a:r>
              <a:t>3. Decide your limit for fun spending.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325112"/>
            <a:ext cx="9601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2D2D2D"/>
                </a:solidFill>
                <a:latin typeface="Aptos"/>
              </a:defRPr>
            </a:pPr>
            <a:r>
              <a:t>4. Keep a little buffer for surprises.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5166360"/>
            <a:ext cx="9966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F4E79"/>
                </a:solidFill>
                <a:latin typeface="Aptos"/>
              </a:defRPr>
            </a:pPr>
            <a:r>
              <a:t>The 50/30/20 rule (needs/wants/savings) is only a starting point. Adjust it to your real costs.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77E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4E79"/>
                </a:solidFill>
                <a:latin typeface="Aptos"/>
              </a:defRPr>
            </a:pPr>
            <a:r>
              <a:t>Step 4: Track spending every week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07008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377E7D"/>
                </a:solidFill>
                <a:latin typeface="Aptos"/>
              </a:defRPr>
            </a:pPr>
            <a:r>
              <a:t>Small purchases can add up without you noticing.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10698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E6E6E"/>
                </a:solidFill>
                <a:latin typeface="Aptos"/>
              </a:defRPr>
            </a:pPr>
            <a:r>
              <a:t>STUDENT BUDGETING  •  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0574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77E7D"/>
                </a:solidFill>
                <a:latin typeface="Aptos"/>
              </a:defRPr>
            </a:pPr>
            <a:r>
              <a:t>WRITE IT DOWN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743200"/>
            <a:ext cx="3246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2D2D2D"/>
                </a:solidFill>
                <a:latin typeface="Aptos"/>
              </a:defRPr>
            </a:pPr>
            <a:r>
              <a:t>Use notes, a notebook or a spreadsheet.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09160" y="20574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77E7D"/>
                </a:solidFill>
                <a:latin typeface="Aptos"/>
              </a:defRPr>
            </a:pPr>
            <a:r>
              <a:t>CHECK TOTALS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9160" y="2743200"/>
            <a:ext cx="3246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2D2D2D"/>
                </a:solidFill>
                <a:latin typeface="Aptos"/>
              </a:defRPr>
            </a:pPr>
            <a:r>
              <a:t>Look at your spending once or twice a week.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20574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77E7D"/>
                </a:solidFill>
                <a:latin typeface="Aptos"/>
              </a:defRPr>
            </a:pPr>
            <a:r>
              <a:t>ADJUST EARLY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49640" y="2743200"/>
            <a:ext cx="3246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2D2D2D"/>
                </a:solidFill>
                <a:latin typeface="Aptos"/>
              </a:defRPr>
            </a:pPr>
            <a:r>
              <a:t>If one category is too high, change next week's plan.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77E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4E79"/>
                </a:solidFill>
                <a:latin typeface="Aptos"/>
              </a:defRPr>
            </a:pPr>
            <a:r>
              <a:t>Easy ways to spend a little less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07008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377E7D"/>
                </a:solidFill>
                <a:latin typeface="Aptos"/>
              </a:defRPr>
            </a:pPr>
            <a:r>
              <a:t>You don't have to cut out every fun thing.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10698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E6E6E"/>
                </a:solidFill>
                <a:latin typeface="Aptos"/>
              </a:defRPr>
            </a:pPr>
            <a:r>
              <a:t>STUDENT BUDGETING  •  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874519"/>
            <a:ext cx="5212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D2D2D"/>
                </a:solidFill>
                <a:latin typeface="Aptos"/>
              </a:defRPr>
            </a:pPr>
            <a:r>
              <a:t>•  Carry water or snacks when practical.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834639"/>
            <a:ext cx="5212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D2D2D"/>
                </a:solidFill>
                <a:latin typeface="Aptos"/>
              </a:defRPr>
            </a:pPr>
            <a:r>
              <a:t>•  Compare the full price before ordering online.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794760"/>
            <a:ext cx="5212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D2D2D"/>
                </a:solidFill>
                <a:latin typeface="Aptos"/>
              </a:defRPr>
            </a:pPr>
            <a:r>
              <a:t>•  Use student discounts where available.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1874519"/>
            <a:ext cx="5212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D2D2D"/>
                </a:solidFill>
                <a:latin typeface="Aptos"/>
              </a:defRPr>
            </a:pPr>
            <a:r>
              <a:t>•  Plan outings and set a limit beforehand.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834639"/>
            <a:ext cx="5212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D2D2D"/>
                </a:solidFill>
                <a:latin typeface="Aptos"/>
              </a:defRPr>
            </a:pPr>
            <a:r>
              <a:t>•  Cancel subscriptions you rarely use.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3794760"/>
            <a:ext cx="5212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D2D2D"/>
                </a:solidFill>
                <a:latin typeface="Aptos"/>
              </a:defRPr>
            </a:pPr>
            <a:r>
              <a:t>•  Wait a day before an unplanned purchase.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77E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4E79"/>
                </a:solidFill>
                <a:latin typeface="Aptos"/>
              </a:defRPr>
            </a:pPr>
            <a:r>
              <a:t>Set one savings goal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07008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377E7D"/>
                </a:solidFill>
                <a:latin typeface="Aptos"/>
              </a:defRPr>
            </a:pPr>
            <a:r>
              <a:t>A small, clear target is easier to follow.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10698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E6E6E"/>
                </a:solidFill>
                <a:latin typeface="Aptos"/>
              </a:defRPr>
            </a:pPr>
            <a:r>
              <a:t>STUDENT BUDGETING  • 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659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377E7D"/>
                </a:solidFill>
                <a:latin typeface="Aptos"/>
              </a:defRPr>
            </a:pPr>
            <a:r>
              <a:t>Example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0604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F4E79"/>
                </a:solidFill>
                <a:latin typeface="Aptos"/>
              </a:defRPr>
            </a:pPr>
            <a:r>
              <a:t>Save ₹300 each month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9184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2D2D2D"/>
                </a:solidFill>
                <a:latin typeface="Aptos"/>
              </a:defRPr>
            </a:pPr>
            <a:r>
              <a:t>After 6 months = ₹1,800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233172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2D2D2D"/>
                </a:solidFill>
                <a:latin typeface="Aptos"/>
              </a:defRPr>
            </a:pPr>
            <a:r>
              <a:t>Your goal could be books, travel, an emergency fund or something you have planned for. Start with an amount that feels realistic.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77E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4E79"/>
                </a:solidFill>
                <a:latin typeface="Aptos"/>
              </a:defRPr>
            </a:pPr>
            <a:r>
              <a:t>Digital payments: stay in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07008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377E7D"/>
                </a:solidFill>
                <a:latin typeface="Aptos"/>
              </a:defRPr>
            </a:pPr>
            <a:r>
              <a:t>Fast payments still need a quick check.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10698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E6E6E"/>
                </a:solidFill>
                <a:latin typeface="Aptos"/>
              </a:defRPr>
            </a:pPr>
            <a:r>
              <a:t>STUDENT BUDGETING  •  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011680"/>
            <a:ext cx="10149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2D2D2D"/>
                </a:solidFill>
                <a:latin typeface="Aptos"/>
              </a:defRPr>
            </a:pPr>
            <a:r>
              <a:t>•  Review your UPI or card history regularly.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743200"/>
            <a:ext cx="10149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2D2D2D"/>
                </a:solidFill>
                <a:latin typeface="Aptos"/>
              </a:defRPr>
            </a:pPr>
            <a:r>
              <a:t>•  Never share your PIN or OTP.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474720"/>
            <a:ext cx="10149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2D2D2D"/>
                </a:solidFill>
                <a:latin typeface="Aptos"/>
              </a:defRPr>
            </a:pPr>
            <a:r>
              <a:t>•  Avoid borrowing for casual purchases.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4206240"/>
            <a:ext cx="10149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2D2D2D"/>
                </a:solidFill>
                <a:latin typeface="Aptos"/>
              </a:defRPr>
            </a:pPr>
            <a:r>
              <a:t>•  Check fees and due dates before using credit.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77E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4E79"/>
                </a:solidFill>
                <a:latin typeface="Aptos"/>
              </a:defRPr>
            </a:pPr>
            <a:r>
              <a:t>Your monthly budget check-in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07008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377E7D"/>
                </a:solidFill>
                <a:latin typeface="Aptos"/>
              </a:defRPr>
            </a:pPr>
            <a:r>
              <a:t>Take five minutes at the end of each week.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10698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E6E6E"/>
                </a:solidFill>
                <a:latin typeface="Aptos"/>
              </a:defRPr>
            </a:pPr>
            <a:r>
              <a:t>STUDENT BUDGETING  • 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965960"/>
            <a:ext cx="9601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2D2D2D"/>
                </a:solidFill>
                <a:latin typeface="Aptos"/>
              </a:defRPr>
            </a:pPr>
            <a:r>
              <a:t>☐  Do I know how much money is left?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697480"/>
            <a:ext cx="9601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2D2D2D"/>
                </a:solidFill>
                <a:latin typeface="Aptos"/>
              </a:defRPr>
            </a:pPr>
            <a:r>
              <a:t>☐  Have I tracked my small purchases?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429000"/>
            <a:ext cx="9601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2D2D2D"/>
                </a:solidFill>
                <a:latin typeface="Aptos"/>
              </a:defRPr>
            </a:pPr>
            <a:r>
              <a:t>☐  Am I staying within my wants limit?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4160520"/>
            <a:ext cx="9601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2D2D2D"/>
                </a:solidFill>
                <a:latin typeface="Aptos"/>
              </a:defRPr>
            </a:pPr>
            <a:r>
              <a:t>☐  Can I put something aside for my goal?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5394960"/>
            <a:ext cx="10149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77E7D"/>
                </a:solidFill>
                <a:latin typeface="Aptos"/>
              </a:defRPr>
            </a:pPr>
            <a:r>
              <a:t>Remember: a good budget fits your life. It can change when your expenses change.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69164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743200"/>
            <a:ext cx="10149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DC91"/>
                </a:solidFill>
                <a:latin typeface="Aptos"/>
              </a:defRPr>
            </a:pPr>
            <a:r>
              <a:t>Spend with a plan. Save for what matters.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4069080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FFFFFF"/>
                </a:solidFill>
                <a:latin typeface="Aptos"/>
              </a:defRPr>
            </a:pPr>
            <a:r>
              <a:t>Any 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0807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